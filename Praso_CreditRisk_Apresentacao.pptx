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01600" cy="1783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Praso Credit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EC5"/>
                </a:solidFill>
              </a:rPr>
              <a:t>Previsão de Inadimplência com Model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8909C"/>
                </a:solidFill>
              </a:rPr>
              <a:t>Arquitetura inspirada em Nubank · XGBoost + Random Forest + Router (Score A / Score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66360"/>
            <a:ext cx="2103120" cy="1554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70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F2FD"/>
                </a:solidFill>
              </a:rPr>
              <a:t>Clientes PME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5166360"/>
            <a:ext cx="2103120" cy="1554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5257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31,3%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870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F2FD"/>
                </a:solidFill>
              </a:rPr>
              <a:t>Taxa inadimplência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2624" y="5166360"/>
            <a:ext cx="2103120" cy="155448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5257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0,850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5870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F2FD"/>
                </a:solidFill>
              </a:rPr>
              <a:t>AUC do sistema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0336" y="5166360"/>
            <a:ext cx="2103120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5257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+4,6pp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5870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F2FD"/>
                </a:solidFill>
              </a:rPr>
              <a:t>Lift vs.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8048" y="5166360"/>
            <a:ext cx="2103120" cy="1554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5257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39,0%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5870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F2FD"/>
                </a:solidFill>
              </a:rPr>
              <a:t>Taxa de aprovação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</a:rPr>
              <a:t>Projeto Universitário de Machine Learning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280160"/>
            <a:ext cx="3566160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83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Os Dados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280160"/>
            <a:ext cx="3566160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5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5" y="1783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Engenharia de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3566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Modelo de Aplicação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2926080"/>
            <a:ext cx="35661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29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Modelo Comportamental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5" y="2926080"/>
            <a:ext cx="3566160" cy="13716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5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5" y="3429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3566160" cy="13716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63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Interpretabilidade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4572000"/>
            <a:ext cx="3566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4663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50749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Política de Crédito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5" y="4572000"/>
            <a:ext cx="356616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5" y="4663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5" y="50749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Resultados &amp;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Risco de crédito para PMEs no marketplace Praso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• Praso é um marketplace B2B que oferece crédito a pequenas e médias empresas (PMEs)</a:t>
            </a:r>
          </a:p>
          <a:p>
            <a:pPr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• Risco de crédito afeta diretamente a saúde financeira da plataforma</a:t>
            </a:r>
          </a:p>
          <a:p>
            <a:pPr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• 31,3% dos clientes são inadimplentes — acima da média do setor</a:t>
            </a:r>
          </a:p>
          <a:p>
            <a:pPr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• Decisões manuais são lentas, custosas e inconsistentes</a:t>
            </a:r>
          </a:p>
          <a:p>
            <a:pPr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• A heterogeneidade dos clientes (com/sem histórico) dificulta um único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943600" cy="2377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78308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▸ Prever inadimplência antes de conceder crédito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▸ Usar dados de aplicação E histórico comportamental (pedidos)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▸ Rotear cada cliente ao modelo mais adequado</a:t>
            </a:r>
          </a:p>
          <a:p>
            <a:pPr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▸ Gerar uma política de crédito operacional e auditável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840480"/>
            <a:ext cx="5943600" cy="2743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931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Abordagem — Model Routing (inspirado Nubank)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38912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</a:rPr>
              <a:t>▸ Score A (riqueza de dados) avalia o volume de informação disponível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</a:rPr>
              <a:t>▸ Score B (complexidade de perfil) mede incerteza do modelo de aplicação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</a:rPr>
              <a:t>▸ Router seleciona o modelo ótimo para cada cliente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</a:rPr>
              <a:t>▸ Resultado: sistema AUC 0,850 vs baseline 0,726 (+17%)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Duas fontes de dados · 3.000 clientes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840480" cy="2468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aplicacao.csv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3.000 linhas × 28 colunas
Dados cadastrais: capital social,
idade do CNPJ, CNAE, avaliação
Google Maps, dados Serasa (sócios,
negativos, credores), segmento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840480" cy="2468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pedidos.csv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8308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664 clientes com histórico
Dados de pedidos: valor médio,
máximo, mínimo e desvio,
taxa de atraso, dias de atraso
médio e máximo, pedidos/mês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143000"/>
            <a:ext cx="3749039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3977639"/>
            <a:ext cx="1828800" cy="128016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clientes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977639"/>
            <a:ext cx="1828800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0416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com dados
comportamentais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77639"/>
            <a:ext cx="1828800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0416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31,3%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taxa de
inadimplência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1828800" cy="12801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416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22,1%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clientes com
histórico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40680"/>
            <a:ext cx="7955279" cy="11887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6811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⚠  Desafio principal: dois segmentos de clientes com informação muito diferente.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7044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Clientes SEM histórico de pedidos precisam de um modelo mais conservador; clientes COM histórico permitem um modelo mais granular e preciso.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Engenharia de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Transformação de dados brutos em representações numéricas para os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2286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Intervalos → Midpoint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capital_social, idade_cnpj,
google_maps_avaliacao
→ extrai ponto médio numérico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25880"/>
            <a:ext cx="3657600" cy="2286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CNAE → Divisão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8288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cnae_codigo → cnae_divisao
→ agrupa por setor econômico
(2 primeiros dígitos)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325880"/>
            <a:ext cx="3657600" cy="2286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Serasa — Credores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8288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serasa_credores (texto)
→ serasa_n_setores
→ contagem de setores devedores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3657600" cy="228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Features Comportamentais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log_valor_* (log1p das estatísticas
de valor), has_any_delay,
delay_spike_ratio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3886200"/>
            <a:ext cx="3657600" cy="22860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977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Encoding Booleano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Colunas bool → int
para compatibilidade com
sklearn pipelines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3886200"/>
            <a:ext cx="3657600" cy="22860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3977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Pipeline ColumnTransformer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remainder="drop": aceita
superconjunto de colunas
de forma segura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73952"/>
            <a:ext cx="11430000" cy="256032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Resultado: 41 features para Modelo de Aplicação  ·  53 features para Modelo Comportamental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Modelo de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XGBoost · Treinado em 3.000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114800" cy="5303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794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Algoritmo: XGBoost (Gradient Boosting)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ROC-AUC: 0,772 (tuned vs 0,726 baseline)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Average Precision: 0,637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Recall @ threshold 0,30: 0,72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Treinamento: 70% (2.100) / Teste: 30% (900)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Tuning via RandomizedSearchCV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100 iterações · 5-fold CV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FFFFFF"/>
                </a:solidFill>
              </a:rPr>
              <a:t>▸ Parâmetros: n_estimators, max_depth,
learning_rate, subsample, colsample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7223760" cy="3474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663440" y="4892040"/>
            <a:ext cx="7223760" cy="17373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95604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Principais Inputs (por SHAP)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5349240"/>
            <a:ext cx="2194560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53766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idade_cnpj_mid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5806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E0B2"/>
                </a:solidFill>
              </a:rPr>
              <a:t>|SHAP| = 0,553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5349240"/>
            <a:ext cx="2194560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3766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serasa_socio_tem_negativacao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806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E0B2"/>
                </a:solidFill>
              </a:rPr>
              <a:t>|SHAP| = 0,370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5349240"/>
            <a:ext cx="2194560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53766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serasa_n_setores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5806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E0B2"/>
                </a:solidFill>
              </a:rPr>
              <a:t>|SHAP| = 0,193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Modelo Comportamental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Random Forest · Treinado em 664 clientes com histórico de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114800" cy="5303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794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Algoritmo: Random Forest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ROC-AUC: 0,770 (vs 0,623 baseline app-only)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Lift sobre baseline: +0,1467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Average Precision: 0,594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Subconjunto: 664 clientes com pedidos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Taxa inadimplência: 20,8% (vs 31,3% geral)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Features exclusivas comportamentais: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   delay_mean, delay_max, log_valor_*,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   orders_per_month, pct_orders_delayed,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▸    has_any_delay, delay_spike_ratio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80160"/>
            <a:ext cx="7223760" cy="5303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371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Por que Random Forest?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78308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0">
                <a:solidFill>
                  <a:srgbClr val="263238"/>
                </a:solidFill>
              </a:rPr>
              <a:t>▸ Amostra menor (664): RF menos propenso a overfitting que XGBoost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63238"/>
                </a:solidFill>
              </a:rPr>
              <a:t>▸ Interpreta bem features contínuas de distribuição irregular (log_valor_*)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63238"/>
                </a:solidFill>
              </a:rPr>
              <a:t>▸ Suporte nativo a features mistas (numéricas + binárias)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63238"/>
                </a:solidFill>
              </a:rPr>
              <a:t>▸ SHAP com TreeExplainer funciona diretamente em Random Forest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63238"/>
                </a:solidFill>
              </a:rPr>
              <a:t>▸ Validação: AUC estável entre folds (σ = 0,02)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931920"/>
            <a:ext cx="3429000" cy="2468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023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Comparação no subconjunto (664)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4480560"/>
            <a:ext cx="315468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52628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App Model (baseline)
AUC = 0.623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5257800"/>
            <a:ext cx="31546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53035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Behavioral RF (tuned)
AUC = 0.770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931920"/>
            <a:ext cx="3611880" cy="24688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 Features (SHAP)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434840"/>
            <a:ext cx="2432303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4714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idade_cnpj_mid  0.038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892040"/>
            <a:ext cx="2368296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9286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delay_mean  0.037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5349240"/>
            <a:ext cx="2368296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385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orders_per_month  0.037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5806440"/>
            <a:ext cx="1984248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843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pct_orders_delayed  0.031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Visão completa: ingestão de dados → feature engineering → modelos → router → política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8</a:t>
            </a:r>
          </a:p>
        </p:txBody>
      </p:sp>
      <p:pic>
        <p:nvPicPr>
          <p:cNvPr id="8" name="Picture 7" descr="00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Routing —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Roteamento baseado em pontuação (Score A + Score B) · Inspirado em Nubank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0" cy="233172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 A — Riqueza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1BEE7"/>
                </a:solidFill>
              </a:rPr>
              <a:t>0,0          se o cliente não tem histórico de pedidos
[0,5 ; 1,0]  se tem pedidos: 0,5 + 0,5 × min(1, pedidos/mês ÷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E93D8"/>
                </a:solidFill>
              </a:rPr>
              <a:t>→ Mede QUANTO de informação está disponível para a decisão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486400" cy="2331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Score B — Complexidade de Perfil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BDEFB"/>
                </a:solidFill>
              </a:rPr>
              <a:t>score_B = 1 − |p_aplicacao − 0,5| × 2
→ 1,0 quando p_app ≈ 0,5 (modelo incerto)
→ 0,0 quando p_app ≈ 0 ou 1 (perfil claro)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0CAF9"/>
                </a:solidFill>
              </a:rPr>
              <a:t>→ Mede QUÃO DIFÍCIL é classificar este 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5760720" cy="48006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Regras de Roteamento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20240"/>
            <a:ext cx="53949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BEHAVIORAL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Condição: Score A ≥ 0,5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91840"/>
            <a:ext cx="5394960" cy="118872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3E0"/>
                </a:solidFill>
              </a:rPr>
              <a:t>Condição: Score A &lt; 0,5  E  Score B &lt; 0,6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663440"/>
            <a:ext cx="5394960" cy="118872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MANUAL_REVIEW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66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3E5F5"/>
                </a:solidFill>
              </a:rPr>
              <a:t>Condição: Score A &lt; 0,5  E  Score B ≥ 0,6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394960"/>
            <a:ext cx="539496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13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 do sistema: 0,850  (+17,2% vs baseline 0,726)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do Model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Distribuição de roteamento e métricas por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234440"/>
            <a:ext cx="4937760" cy="1508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3075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BEHAVIORAL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09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8424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664 (22,1%)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1709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198424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3304" y="1709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Taxa inadimp.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3304" y="198424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20,8%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926080"/>
            <a:ext cx="4937760" cy="150876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999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401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67588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998 (33,3%)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401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67588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0,772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3304" y="3401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Taxa inadimp.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3304" y="367588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33,4%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4617720"/>
            <a:ext cx="4937760" cy="150876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690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MANUAL_REVIEW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093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Clientes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3675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1.338 (44,6%)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5093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Modelo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5672" y="53675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 (flagged)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304" y="5093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3F2FD"/>
                </a:solidFill>
              </a:rPr>
              <a:t>Taxa inadimp.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4" y="53675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35,1%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11612880" cy="141732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Impacto no AUC do sistema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87568"/>
            <a:ext cx="2651760" cy="77724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7424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Baseline único modelo: 0,726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687568"/>
            <a:ext cx="265176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424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Sistema Rule-based: 0,850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687568"/>
            <a:ext cx="2651760" cy="7772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7424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Sistema ML Router: 0,848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5687568"/>
            <a:ext cx="2651760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574243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Lift (rule-based): +4,6pp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Interpretabilidade —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Explicabilidade global e local via SHAP TreeExplainer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7724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234440"/>
            <a:ext cx="3657600" cy="5394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25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o SHAP revela?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CNPJ novo → maior risco
(idade_cnpj_mid é o driver #1 em ambos)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Sócio com negativação no
Serasa amplifica muito o risco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Diversificação de credores
(n_setores) indica fragilidade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Comportamento de pagamento
(delay_mean) é top-2 no
Modelo Comportamental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B0BEC5"/>
                </a:solidFill>
              </a:rPr>
              <a:t>▸ Curva de calibração validada:
predições alinhadas com
taxas reais observadas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486400"/>
            <a:ext cx="7772400" cy="11430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55955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176"/>
                </a:solidFill>
              </a:rPr>
              <a:t>Verificação por permutação: ranking de importância consistente com SHAP em ambos os modelos.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6188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Model cards exportados com metadados, thresholds, métricas e fontes de dados de cada modelo.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Política de Crédito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Thresholds por tier · Limites de crédito baseados em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286000" cy="4572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25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280160"/>
            <a:ext cx="22860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325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Auto-Aprovar (p &lt;)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280160"/>
            <a:ext cx="237744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13258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 (faixa)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280160"/>
            <a:ext cx="22860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3258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Auto-Negar (p 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2286000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BEHAVIORAL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73736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737360"/>
            <a:ext cx="23774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181051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0,25 – 0,35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73736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18105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86000"/>
            <a:ext cx="2286000" cy="50292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3591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2860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23591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28600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235915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0,15 – 0,25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2860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23591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834640"/>
            <a:ext cx="2286000" cy="50292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9077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MANUAL_REVIEW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83464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4912" y="29077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0,40*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2834640"/>
            <a:ext cx="23774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2907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83464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29077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3238"/>
                </a:solidFill>
              </a:rPr>
              <a:t>0,40*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46E7A"/>
                </a:solidFill>
              </a:rPr>
              <a:t>* Threshold indicativo para analista humano no MANUAL_REVIEW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383280"/>
            <a:ext cx="11612880" cy="3657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40156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Limites de Crédito por Tier e Faixa de Risco (p)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94760"/>
            <a:ext cx="365760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3822191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BEHAVIORAL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0624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279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p &lt; 0,10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427939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8E5"/>
                </a:solidFill>
              </a:rPr>
              <a:t>R$25.000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84632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4919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0,10 – 0,18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8E5"/>
                </a:solidFill>
              </a:rPr>
              <a:t>R$15.000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48640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55595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0,18 – 0,25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55595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8E5"/>
                </a:solidFill>
              </a:rPr>
              <a:t>R$10.000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0248" y="3794760"/>
            <a:ext cx="3657600" cy="36576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9976" y="3822191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70248" y="420624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9976" y="4279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p &lt; 0,08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427939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8C00"/>
                </a:solidFill>
              </a:rPr>
              <a:t>R$20.000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0248" y="484632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9976" y="4919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0,08 – 0,12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3368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8C00"/>
                </a:solidFill>
              </a:rPr>
              <a:t>R$12.000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70248" y="548640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9976" y="55595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0,12 – 0,15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3368" y="55595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8C00"/>
                </a:solidFill>
              </a:rPr>
              <a:t>R$8.000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74736" y="3794760"/>
            <a:ext cx="3657600" cy="36576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3822191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MANUAL_REVIEW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74736" y="4206240"/>
            <a:ext cx="3657600" cy="56692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84464" y="4279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</a:rPr>
              <a:t>p &lt; 0,40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7856" y="427939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E24AA"/>
                </a:solidFill>
              </a:rPr>
              <a:t>R$8.000*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Análise de Cenários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Comparação de quatro políticas de crédito no mesmo portfólio de 3.000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22376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234440"/>
            <a:ext cx="4206240" cy="5394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Detalhamento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737360"/>
            <a:ext cx="132588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783080"/>
            <a:ext cx="1252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2392581560" y="1737360"/>
            <a:ext cx="9144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2392627280" y="178308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Aprovação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519941560" y="1737360"/>
            <a:ext cx="9144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519987280" y="178308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Inadimp.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4647301560" y="1737360"/>
            <a:ext cx="9144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4647347280" y="178308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Perda esp.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194560"/>
            <a:ext cx="1325880" cy="77724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359152"/>
            <a:ext cx="1252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2392581560" y="219456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2392627280" y="235915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21,4%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48519941560" y="219456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48519987280" y="235915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5,6%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4647301560" y="219456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4647347280" y="235915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R$0,43M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063239"/>
            <a:ext cx="1325880" cy="7772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227831"/>
            <a:ext cx="1252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Recomendado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2392581560" y="3063239"/>
            <a:ext cx="914400" cy="7772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2392627280" y="3227831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39,0%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48519941560" y="3063239"/>
            <a:ext cx="914400" cy="7772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48519987280" y="3227831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7,3%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4647301560" y="3063239"/>
            <a:ext cx="914400" cy="7772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4647347280" y="3227831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R$1,03M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931920"/>
            <a:ext cx="132588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4096512"/>
            <a:ext cx="1252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Conservador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2392581560" y="393192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2392627280" y="409651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21,4%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48519941560" y="393192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48519987280" y="409651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2,8%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4647301560" y="3931920"/>
            <a:ext cx="914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4647347280" y="409651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R$0,22M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4800600"/>
            <a:ext cx="132588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4965192"/>
            <a:ext cx="1252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Permissivo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12392581560" y="4800600"/>
            <a:ext cx="914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2392627280" y="496519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60,7%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48519941560" y="4800600"/>
            <a:ext cx="914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48519987280" y="496519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11,7%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4647301560" y="4800600"/>
            <a:ext cx="914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4647347280" y="4965192"/>
            <a:ext cx="841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3238"/>
                </a:solidFill>
              </a:rPr>
              <a:t>R$2,56M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5074920"/>
            <a:ext cx="4206240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1389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Política Recomendada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5321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 b="0">
                <a:solidFill>
                  <a:srgbClr val="C8E6C9"/>
                </a:solidFill>
              </a:rPr>
              <a:t>▸ Quase 2× mais aprovações que o baseline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C8E6C9"/>
                </a:solidFill>
              </a:rPr>
              <a:t>▸ Aumento de inadimplência aceitável (+1,7pp)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C8E6C9"/>
                </a:solidFill>
              </a:rPr>
              <a:t>▸ Clientes BEHAVIORAL absorvem limites maiores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C8E6C9"/>
                </a:solidFill>
              </a:rPr>
              <a:t>▸ com menor risco real (20,8% vs 33,4%)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074920"/>
            <a:ext cx="7223760" cy="155448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138928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0A4AE"/>
                </a:solidFill>
              </a:rPr>
              <a:t>Premissa: limite uniforme de R$12.000 para comparação entre cenários. Limites reais por faixa de risco aumentam a diferença de performance entre o router e o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Métricas Consolidadas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Resultados finais do sistema de crédito inteligente com Model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210312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0,850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AUC do Sistema
(Rule-based Router)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371600"/>
            <a:ext cx="3657600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00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+4,6pp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606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Lift vs.
Baseline único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5" y="1371600"/>
            <a:ext cx="3657600" cy="21031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6002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39,0%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606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Taxa de
Aprovação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2103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7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Roteamento
Automático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3749039"/>
            <a:ext cx="3657600" cy="21031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977639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R$9,6M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98347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Exposição
Total (crédito)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5" y="3749039"/>
            <a:ext cx="3657600" cy="2103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3977639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16,7%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98347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F2FD"/>
                </a:solidFill>
              </a:rPr>
              <a:t>Taxa de Perda
Esperada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Governança &amp;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Monitoramento contínuo, atualização de modelos e evolução da arquitetura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5394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Monitoramento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Mensal: taxa de inadimplência por tier vs. esperada (alerta se Δ &gt; 5%)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Trimestral: AUC em coortes com 90 dias de maturidade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Trimestral: representação por segmento no tier MANUAL_REVIEW (viés)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Anual: retreino completo com dados atualizados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80160"/>
            <a:ext cx="3657600" cy="5394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Gatilhos de Atualização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8288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AUC cai abaixo de 0,70 em coorte de 90 dias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Taxa de inadimplência dos AUTO-APPROVE ultrapassa 15% (BEHAVIORAL) ou 10% (APPLICATION)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Mudança significativa no mix de produtos ou segmento de clientes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Evento macroeconômico disruptivo (ex: variação &gt;20% na inadimplência do setor)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280160"/>
            <a:ext cx="3657600" cy="5394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Próximos Passos Técnicos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8288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Integrar src/router.py na API de originação de crédito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Construir dashboard de monitoramento em tempo real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Expandir tier BEHAVIORAL: coletar histórico dos 77,9% sem dados (meta: 40%+)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Avaliar modelos de séries temporais para capturar sazonalidade nos pedidos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</a:rPr>
              <a:t>▸ Testar LightGBM e CatBoost no Modelo de Aplicação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